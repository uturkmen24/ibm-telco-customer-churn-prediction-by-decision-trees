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Atkinson Hyperlegible"/>
      <p:regular r:id="rId201314"/>
    </p:embeddedFont>
    <p:embeddedFont>
      <p:font typeface="Atkinson Hyperlegible Bold"/>
      <p:regular r:id="rId201315"/>
    </p:embeddedFont>
    <p:embeddedFont>
      <p:font typeface="DM Mono Medium"/>
      <p:regular r:id="rId201316"/>
    </p:embeddedFont>
    <p:embeddedFont>
      <p:font typeface="Gabarito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5E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986677"/>
            <a:ext cx="8534187" cy="192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72" kern="100" dirty="0">
                <a:solidFill>
                  <a:srgbClr val="196A2D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Karar Ağaçları ile</a:t>
            </a:r>
            <a:endParaRPr lang="en-US" sz="48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800" spc="-72" kern="100" dirty="0">
                <a:solidFill>
                  <a:srgbClr val="24344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Telekom Müşteri Terk (Churn) Tahmini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4116090"/>
            <a:ext cx="2133547" cy="76200"/>
          </a:xfrm>
          <a:prstGeom prst="roundRect">
            <a:avLst>
              <a:gd name="adj" fmla="val 49999"/>
            </a:avLst>
          </a:prstGeom>
          <a:solidFill>
            <a:srgbClr val="196A2D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585990"/>
            <a:ext cx="853418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Umut Türkmen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753356" y="0"/>
            <a:ext cx="2438339" cy="6858000"/>
          </a:xfrm>
          <a:prstGeom prst="rect">
            <a:avLst/>
          </a:prstGeom>
          <a:solidFill>
            <a:srgbClr val="196A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9836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1. Problem: Müşteri Kaybı (Churn) Tahmini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973719"/>
            <a:ext cx="1127731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Mevcut müşteriyi elde tutmak, yeni müşteri kazanmaktan çok daha ekonomiktir.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189" y="2673747"/>
            <a:ext cx="3555911" cy="2691606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92774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3247827"/>
            <a:ext cx="3555812" cy="19050"/>
          </a:xfrm>
          <a:prstGeom prst="rect">
            <a:avLst/>
          </a:prstGeom>
          <a:solidFill>
            <a:srgbClr val="196A2D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3403997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Hedef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182" y="3877072"/>
            <a:ext cx="304792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Müşterinin şirketten ayrılıp ayrılmayacağını (1 veya 0) önceden tahmin etmek.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17892" y="2673747"/>
            <a:ext cx="3555911" cy="2691606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86" y="2927747"/>
            <a:ext cx="89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17892" y="3247827"/>
            <a:ext cx="3555812" cy="19050"/>
          </a:xfrm>
          <a:prstGeom prst="rect">
            <a:avLst/>
          </a:prstGeom>
          <a:solidFill>
            <a:srgbClr val="196A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886" y="3403997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Yöntem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1886" y="3877072"/>
            <a:ext cx="304792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Fatura, abonelik süresi ve hizmet verileriyle İkili Sınıflandırma (Binary Classification).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78595" y="2673747"/>
            <a:ext cx="3555911" cy="2691606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32589" y="2927747"/>
            <a:ext cx="897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78595" y="3247827"/>
            <a:ext cx="3555812" cy="19050"/>
          </a:xfrm>
          <a:prstGeom prst="rect">
            <a:avLst/>
          </a:prstGeom>
          <a:solidFill>
            <a:srgbClr val="196A2D"/>
          </a:solidFill>
          <a:ln/>
        </p:spPr>
      </p:sp>
      <p:sp>
        <p:nvSpPr>
          <p:cNvPr id="17" name="Text 15"/>
          <p:cNvSpPr/>
          <p:nvPr/>
        </p:nvSpPr>
        <p:spPr>
          <a:xfrm>
            <a:off x="8432589" y="3403997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İş Değeri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2589" y="3877072"/>
            <a:ext cx="304792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Riskli müşterileri ayrılmadan tespit edip proaktif taahhüt/indirim kampanyası sunmak.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94235" y="6526510"/>
            <a:ext cx="39746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39036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2. Veri: IBM Telco Veri Seti ve Temel Bulgular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083270"/>
            <a:ext cx="5410065" cy="3906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7.043 müşteri; en belirleyici 8 temel özellik seçildi (cinsiyet gibi etkisizler elendi).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Yeni abonelerdeki (tenure=0) gizli boşluk (" ") hataları tespit edilip temizlendi.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İlk 20 ayda olan ve 70$ üzeri fatura ödeyen müşterilerde terk oranı çok yüksek.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Aylık sözleşmede terk oranı %42.7 iken, 2 yıllıkta sadece %2.8.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Grafik, özellikle düşük abonelik süresine ve yüksek aylık ücrete sahip yeni müşterilerin şirketi terk etme (churn) eğiliminin çok daha yüksek olduğunu göstermektedir.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24442" y="1083270"/>
            <a:ext cx="5410065" cy="4114998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196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87587" y="6526510"/>
            <a:ext cx="40410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256" y="1529953"/>
            <a:ext cx="5000599" cy="33755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13636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3. Model: Karar Ağacı (Decision Tree Classifier)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057870"/>
            <a:ext cx="3555911" cy="16257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1235670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Neden Karar Ağacı?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84" y="1708983"/>
            <a:ext cx="3200320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Sayısal ve kategorik verileri bir arada işler, doğrusal olmayan davranışları yakalar.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17892" y="1057870"/>
            <a:ext cx="3555911" cy="16257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495688" y="1235670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Açıklanabilir Yapay Zeka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688" y="1708983"/>
            <a:ext cx="3200320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Beyaz kutu modeli olarak kırılım kurallarını net gösterir (İlk kural: Sözleşme &lt;= 0.5).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178595" y="1057870"/>
            <a:ext cx="3555911" cy="16257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356391" y="1235670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Ezberleme Kontrolü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56391" y="1708983"/>
            <a:ext cx="3200320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Aşırı öğrenmeyi (Overfitting) önlemek için derinlik max_depth=4 ile sınırlandırıldı.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781436" y="6526510"/>
            <a:ext cx="41025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467" y="2777133"/>
            <a:ext cx="8768337" cy="4030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9836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4. Sonuç: Başarı Metrikleri ve Tahmin Aracı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134070"/>
            <a:ext cx="5486263" cy="2480965"/>
          </a:xfrm>
          <a:prstGeom prst="roundRect">
            <a:avLst>
              <a:gd name="adj" fmla="val 4914"/>
            </a:avLst>
          </a:prstGeom>
          <a:solidFill>
            <a:srgbClr val="196A2D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824653"/>
            <a:ext cx="518147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Test Başarısı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981" y="2192933"/>
            <a:ext cx="4876678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100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%79.70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6248244" y="1134070"/>
            <a:ext cx="5486263" cy="2480965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53036" y="1577995"/>
            <a:ext cx="518147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24344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Eğitim Başarısı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53036" y="1946275"/>
            <a:ext cx="4876678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100" dirty="0">
                <a:solidFill>
                  <a:srgbClr val="196A2D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%79.39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553036" y="2909034"/>
            <a:ext cx="518147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Sıfır Aşırı Öğrenme / Overfitting!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7189" y="3919835"/>
            <a:ext cx="5486263" cy="2480965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11182" y="4174788"/>
            <a:ext cx="49782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96A2D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%91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duyarlılık (Recall)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1182" y="4712891"/>
            <a:ext cx="523226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Kalan müşterileri tespit etmede.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244" y="3919835"/>
            <a:ext cx="5486263" cy="2480965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02237" y="4174788"/>
            <a:ext cx="49782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Akıllı Tahmin Aracı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02237" y="4712891"/>
            <a:ext cx="49782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Kullanıcı girdisiyle anlık terk olasılığı (%) ve aksiyon önerisi üreten mini uygulama.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86198" y="6526510"/>
            <a:ext cx="40549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9836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5. Çıkarım: İş Stratejisi ve Model Geliştirme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134070"/>
            <a:ext cx="11277318" cy="2640310"/>
          </a:xfrm>
          <a:prstGeom prst="roundRect">
            <a:avLst>
              <a:gd name="adj" fmla="val 4618"/>
            </a:avLst>
          </a:prstGeom>
          <a:solidFill>
            <a:srgbClr val="196A2D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414423"/>
            <a:ext cx="1061693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İş Aksiyonu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1952526"/>
            <a:ext cx="1094712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Aydan aya sözleşmeli Fiber internet kullanıcılarına acil taahhüt indirimi sunulmalı.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189" y="4080133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Sınırlılıklar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189" y="4618236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Veri dengesizliği (%73.5 Kalan - %26.5 Ayrılan) ve uçlardaki 5-6 kişilik küçük yapraklar.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4080133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Gelecek İyileştirmeler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24442" y="4618236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class_weight='balanced' ve min_samples_leaf=20 eklenmesi veya Random Forest'a geçiş.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9498" y="4079180"/>
            <a:ext cx="12700" cy="2321620"/>
          </a:xfrm>
          <a:prstGeom prst="rect">
            <a:avLst/>
          </a:prstGeom>
          <a:solidFill>
            <a:srgbClr val="196A2D"/>
          </a:solidFill>
          <a:ln/>
        </p:spPr>
      </p:sp>
      <p:sp>
        <p:nvSpPr>
          <p:cNvPr id="11" name="Text 9"/>
          <p:cNvSpPr/>
          <p:nvPr/>
        </p:nvSpPr>
        <p:spPr>
          <a:xfrm>
            <a:off x="11783916" y="6526510"/>
            <a:ext cx="40777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2026-10-20T17:49:12Z</dcterms:created>
  <dcterms:modified xsi:type="dcterms:W3CDTF">2026-10-20T17:49:12Z</dcterms:modified>
</cp:coreProperties>
</file>